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Web paraRegressão Simbólica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Autor: Gustavo Teodoro Bauke</a:t>
            </a:r>
          </a:p>
          <a:p>
            <a:pPr>
              <a:defRPr sz="2200"/>
            </a:pPr>
            <a:r>
              <a:t>Orientador: Prof. Dr. Fabrício Olivetti de França</a:t>
            </a:r>
          </a:p>
          <a:p>
            <a:pPr>
              <a:defRPr sz="2200"/>
            </a:pPr>
            <a:r>
              <a:t>Ano: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Aplicações de Amplo Escopo na Era da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Atualmente, observa-se uma dependência estrutural de modelos de Inteligência Artificial para diversas tarefas fundamentais da sociedade.</a:t>
            </a:r>
          </a:p>
          <a:p>
            <a:pPr lvl="1">
              <a:defRPr sz="2000"/>
            </a:pPr>
            <a:r>
              <a:t>Modelos de Linguagem de Larga Escala (LLMs): Ferramentas conversacionais de vasta adoção, como ChatGPT e GitHub Copilot.</a:t>
            </a:r>
          </a:p>
          <a:p>
            <a:pPr lvl="1">
              <a:defRPr sz="2000"/>
            </a:pPr>
            <a:r>
              <a:t>Predição Financeira: Modelos preditivos de alta frequência projetados para a dinâmica do mercado de ações.</a:t>
            </a:r>
          </a:p>
          <a:p>
            <a:pPr lvl="1">
              <a:defRPr sz="2000"/>
            </a:pPr>
            <a:r>
              <a:t>Saúde Pública: Predição de disseminação de doenças.</a:t>
            </a:r>
          </a:p>
          <a:p>
            <a:pPr lvl="1">
              <a:defRPr sz="2000"/>
            </a:pPr>
            <a:r>
              <a:t>Outras Aplicações: Classificação de imagens, predição de estoques, sistemas de recomendação.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Algoritmos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Por trás dessas aplicações complexas, operam algoritmos e modelos matemáticos bastante consolidados.</a:t>
            </a:r>
          </a:p>
          <a:p>
            <a:pPr lvl="1">
              <a:defRPr sz="2000"/>
            </a:pPr>
            <a:r>
              <a:t>Redes Neurais Artificiais Profundas</a:t>
            </a:r>
          </a:p>
          <a:p>
            <a:pPr lvl="1">
              <a:defRPr sz="2000"/>
            </a:pPr>
            <a:r>
              <a:t>Arquiteturas Transformers (Mecanismos de Atenção)</a:t>
            </a:r>
          </a:p>
          <a:p>
            <a:pPr>
              <a:defRPr sz="2200"/>
            </a:pPr>
            <a:r>
              <a:t>O desenvolvimento contemporâneo desses modelos busca maximizar a capacidade preditiva, processando grandes volumes de dados para extrair respostas numéricas cada vez mais precisas.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Paradigma da Caixa-Preta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Apesar de atingirem altíssima precisão, esses modelos não são transparentes: não conseguimos visualizar como tomam suas decisões.</a:t>
            </a:r>
          </a:p>
          <a:p>
            <a:pPr lvl="1">
              <a:defRPr sz="2000"/>
            </a:pPr>
            <a:r>
              <a:t>Falta de Interpretabilidade: É extremamente difícil auditar o raciocínio interno da IA ou justificar o porquê de uma previsão (Ex: diagnóstico médico).</a:t>
            </a:r>
          </a:p>
          <a:p>
            <a:pPr lvl="1">
              <a:defRPr sz="2000"/>
            </a:pPr>
            <a:r>
              <a:t>Risco de Correlações Falsas: O modelo pode aprender atalhos ou padrões incorretos nos dados sem que possamos detectar.</a:t>
            </a:r>
          </a:p>
          <a:p>
            <a:pPr lvl="1">
              <a:defRPr sz="2000"/>
            </a:pPr>
            <a:r>
              <a:t>Barreira Científica: Na engenharia e nas ciências exatas, um modelo precisa ser compreensível e validar leis da física, e não apenas entregar "bons palpites" cegos.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Regressão Simbólica (SR)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Regressão Simbólica surge na área de IA evolutiva como a solução ideal para criar Modelos Brancos (White-box Models) totalmente transparentes.</a:t>
            </a:r>
          </a:p>
          <a:p>
            <a:pPr lvl="1">
              <a:defRPr sz="2000"/>
            </a:pPr>
            <a:r>
              <a:t>Em vez de apenas cuspir um número final, a SR busca evoluir e deduzir a equação matemática explícita (f(x)) por trás dos dados.</a:t>
            </a:r>
          </a:p>
          <a:p>
            <a:pPr lvl="1">
              <a:defRPr sz="2000"/>
            </a:pPr>
            <a:r>
              <a:t>Com a fórmula exposta em texto puro, os especialistas humanos podem analisar o resultado, validar as leis do processo físico e corrigir falhas no modelo.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Problema das Regressões Clássicas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As regressões tradicionais (Linear, Polinomial) também entregam modelos transparentes, mas possuem limitações pesadas para a ciência de dados moderna:</a:t>
            </a:r>
          </a:p>
          <a:p>
            <a:pPr lvl="1">
              <a:defRPr sz="2000"/>
            </a:pPr>
            <a:r>
              <a:t>Imposição de Estrutura: O cientista de dados precisa "adivinhar" o esqueleto da equação antes mesmo de começar (ex: assumir \hat{y} = \beta_0 + \beta_1 x).</a:t>
            </a:r>
          </a:p>
          <a:p>
            <a:pPr lvl="1">
              <a:defRPr sz="2000"/>
            </a:pPr>
            <a:r>
              <a:t>Otimização Limitada: O algoritmo apenas procura o valor dos coeficientes (\beta) para preencher as lacunas dessa estrutura engessada.</a:t>
            </a:r>
          </a:p>
          <a:p>
            <a:pPr lvl="1">
              <a:defRPr sz="2000"/>
            </a:pPr>
            <a:r>
              <a:t>Gargalo Perante Fenômenos Complexos: Essas técnicas falham em representar dinâmicas da natureza que não seguem curvas simples ou previamente conhecidas pelo humano.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Regressão Simbólica em Detalhes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Regressão Simbólica (SR) resolve esse engessamento construindo a fórmula inteira do zero.</a:t>
            </a:r>
          </a:p>
          <a:p>
            <a:pPr lvl="1">
              <a:defRPr sz="2000"/>
            </a:pPr>
            <a:r>
              <a:t>Realiza uma busca livre e simultânea pela estrutura da equação matemática e pelos seus respectivos parâmetros numéricos.</a:t>
            </a:r>
          </a:p>
          <a:p>
            <a:pPr lvl="1">
              <a:defRPr sz="2000"/>
            </a:pPr>
            <a:r>
              <a:t>Todas as equações do sistema são representadas internamente em forma de galhos, chamadas de Árvores de Sintaxe Abstrata (ASTs).</a:t>
            </a:r>
          </a:p>
          <a:p>
            <a:pPr lvl="1">
              <a:defRPr sz="2000"/>
            </a:pPr>
            <a:r>
              <a:t>Durante a procura, a IA tenta equilibrar dois objetivos concorrentes: entregar **alta precisão** (redução do erro \mathcal{L}) e manter **alta simplicidade** visual da fórmula.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População Inicial: Um conjunto de indivíduos contendo árvores sintáticas (AST) é inicializado e sua aptidão de validação avaliada (ex. MSE).</a:t>
            </a:r>
          </a:p>
        </p:txBody>
      </p:sp>
      <p:pic>
        <p:nvPicPr>
          <p:cNvPr id="4" name="Picture 3" descr="ga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2. Seleção: Os indivíduos que apresentam os melhores resultados de aptidão e menor número de nós (parcimônia) são selecionados para cruzamento.</a:t>
            </a:r>
          </a:p>
        </p:txBody>
      </p:sp>
      <p:pic>
        <p:nvPicPr>
          <p:cNvPr id="4" name="Picture 3" descr="ga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3. Reprodução: As ramificações selecionadas sofrem operações genéticas (Cruzamento de nós estruturais ou Mutação probabilística).</a:t>
            </a:r>
          </a:p>
        </p:txBody>
      </p:sp>
      <p:pic>
        <p:nvPicPr>
          <p:cNvPr id="4" name="Picture 3" descr="ga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4. Nova Geração: Pela estratégia de Elitismo, parcelas altamente viáveis são preservadas, enquanto as novas descendências substituem o restante populacional.</a:t>
            </a:r>
          </a:p>
        </p:txBody>
      </p:sp>
      <p:pic>
        <p:nvPicPr>
          <p:cNvPr id="4" name="Picture 3" descr="ga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Preço da Interpretabilidade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Apesar de seus imensos benefícios, a Regressão Simbólica ainda não domina o mercado devido ao seu altíssimo custo computacional de treinamento:</a:t>
            </a:r>
          </a:p>
          <a:p>
            <a:pPr>
              <a:defRPr sz="2200"/>
            </a:pPr>
            <a:r>
              <a:t>O elevado número de expressões sintáticas geradas pelos operadores de mutação cresce de forma exponencial a cada geração evolutiva.</a:t>
            </a:r>
          </a:p>
          <a:p>
            <a:pPr>
              <a:defRPr sz="2200"/>
            </a:pPr>
            <a:r>
              <a:t>O modelo acaba processando infinitas fórmulas com aparências diferentes, mas que matematicamente dizem a mesma coisa (ex: x + x e 2 \cdot x).</a:t>
            </a:r>
          </a:p>
          <a:p>
            <a:pPr>
              <a:defRPr sz="2200"/>
            </a:pPr>
            <a:r>
              <a:t>O custo repetitivo de calcular a aptidão para um elevado número de equações esgota rapidamente a viabilidade de execução em recursos computacionais limitados.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Grafos de Igualdade (E-graphs)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Estruturas de dados matemáticas capazes de armazenar e compactar múltiplas expressões equivalentes de forma altamente eficiente.</a:t>
            </a:r>
          </a:p>
          <a:p>
            <a:pPr lvl="1">
              <a:defRPr sz="2000"/>
            </a:pPr>
            <a:r>
              <a:t>Classes de Equivalência (e-classes): Conjuntos de expressões logicamente equivalentes são agrupados em nós compartilhados (e-nodes).</a:t>
            </a:r>
          </a:p>
          <a:p>
            <a:pPr lvl="1">
              <a:defRPr sz="2000"/>
            </a:pPr>
            <a:r>
              <a:t>Saturação de Igualdade: O processo de aplicar regras de reescrita contínuas para explorar e agrupar novas representações matemáticas equivalentes no grafo.</a:t>
            </a:r>
          </a:p>
          <a:p>
            <a:pPr>
              <a:defRPr sz="2200"/>
            </a:pPr>
            <a:r>
              <a:t>Algoritmos modernos de regressão simbólica, como o eggp, executam as operações de mutação e cruzamento genético de forma otimizada diretamente na estrutura dos grafos de igualdade, minimizando redundâncias estruturais e economizando drasticamente alocação de memória na busca.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Compressão Estrutural Massiva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Na prática, as regras algébricas do E-graph agrupam milhares de e-classes, criando uma teia altamente densa capaz de representar infinitas equações.</a:t>
            </a:r>
          </a:p>
          <a:p>
            <a:pPr>
              <a:defRPr sz="2200"/>
            </a:pPr>
            <a:r>
              <a:t>Raio-x topológico de um E-graph após rodar o treinamento.</a:t>
            </a:r>
          </a:p>
        </p:txBody>
      </p:sp>
      <p:pic>
        <p:nvPicPr>
          <p:cNvPr id="4" name="Picture 3" descr="e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375563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Inclusão: Expressões matemáticas base como x * 2 e x + x são instanciadas, formando e-classes independentes.</a:t>
            </a:r>
          </a:p>
        </p:txBody>
      </p:sp>
      <p:pic>
        <p:nvPicPr>
          <p:cNvPr id="4" name="Picture 3" descr="egraph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8984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2. Reescrita: As regras de reescrita são aplicadas, conectando e-classes distintas com base em equivalências matemáticas (ex. a * 2 = a + a).</a:t>
            </a:r>
          </a:p>
        </p:txBody>
      </p:sp>
      <p:pic>
        <p:nvPicPr>
          <p:cNvPr id="4" name="Picture 3" descr="egraph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8984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3. Saturação de Igualdade: As equivalências sofrem fusão, englobando os e-nodes em uma única estrutura representacional.</a:t>
            </a:r>
          </a:p>
        </p:txBody>
      </p:sp>
      <p:pic>
        <p:nvPicPr>
          <p:cNvPr id="4" name="Picture 3" descr="egraph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89157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4. Extração: Durante a inferência, a árvore sintática é inspecionada para retornar a rota representacional mais parcimoniosa do grafo.</a:t>
            </a:r>
          </a:p>
        </p:txBody>
      </p:sp>
      <p:pic>
        <p:nvPicPr>
          <p:cNvPr id="4" name="Picture 3" descr="egraph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89157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Barreiras das Ferramentas Atuais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maioria dos softwares atuais de SR (como TuringBot e HeuristicLab) ainda sofre com alguns problemas cruciais:</a:t>
            </a:r>
          </a:p>
          <a:p>
            <a:pPr lvl="1">
              <a:defRPr sz="2000"/>
            </a:pPr>
            <a:r>
              <a:t>Peso Local: Eles forçam que o próprio computador do usuário (com CPU e bateria normais) sustente sozinho toda a carga violenta do cálculo da evolução.</a:t>
            </a:r>
          </a:p>
          <a:p>
            <a:pPr lvl="1">
              <a:defRPr sz="2000"/>
            </a:pPr>
            <a:r>
              <a:t>Fluxo de Trabalho Quebrado: O analista depende de abrir várias ferramentas em janelas separadas para preparar os dados antes e validar a equação depois.</a:t>
            </a:r>
          </a:p>
          <a:p>
            <a:pPr lvl="1">
              <a:defRPr sz="2000"/>
            </a:pPr>
            <a:r>
              <a:t>Analista Passivo: O software geralmente só cospe a equação "final" para o usuário. Isso priva o analista de navegar livremente pelo E-graph para ver quais eram as opções em 2º ou 3º lugar.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Solução: Plataforma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Criamos uma ferramenta nativa Web e em Nuvem dedicada a resolver todos os problemas de usabilidade da pesquisa em Regressão Simbólica.</a:t>
            </a:r>
          </a:p>
          <a:p>
            <a:pPr lvl="1">
              <a:defRPr sz="2000"/>
            </a:pPr>
            <a:r>
              <a:t>O processamento massivo ocorre invisível na nuvem (por workers independentes), poupando a máquina do usuário final de travamentos.</a:t>
            </a:r>
          </a:p>
          <a:p>
            <a:pPr lvl="1">
              <a:defRPr sz="2000"/>
            </a:pPr>
            <a:r>
              <a:t>Centraliza 100% da operação num ambiente amigável: do momento de subir a tabela de dados até a geração do relatório visual conclusivo.</a:t>
            </a:r>
          </a:p>
        </p:txBody>
      </p:sp>
      <p:pic>
        <p:nvPicPr>
          <p:cNvPr id="4" name="Picture 3" descr="profile_ab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2443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Domain-Driven Design (A Arquitetura)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arquitetura do sistema segue os princípios do Domain-Driven Design (DDD), garantindo o isolamento da regra de negócio em relação à infraestrutura. Os principais domínios são:</a:t>
            </a:r>
          </a:p>
          <a:p>
            <a:pPr lvl="1">
              <a:defRPr sz="2000"/>
            </a:pPr>
            <a:r>
              <a:t>Authentication: Regras de login e segurança de credenciais para os pesquisadores logarem na plataforma.</a:t>
            </a:r>
          </a:p>
          <a:p>
            <a:pPr lvl="1">
              <a:defRPr sz="2000"/>
            </a:pPr>
            <a:r>
              <a:t>Workspace: Gestão e isolamento das pastas, tabelas de dados brutos e rascunhos individuais de cada usuário.</a:t>
            </a:r>
          </a:p>
          <a:p>
            <a:pPr lvl="1">
              <a:defRPr sz="2000"/>
            </a:pPr>
            <a:r>
              <a:t>Training: Coordena o envio das execuções de Inteligência Artificial para as filas na nuvem garantindo não travar a Web.</a:t>
            </a:r>
          </a:p>
          <a:p>
            <a:pPr lvl="1">
              <a:defRPr sz="2000"/>
            </a:pPr>
            <a:r>
              <a:t>Inference: O módulo que analisa o grafo já processado e exibe em tabelas os melhores resultados matemáticos garimpados.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Entidades Principais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Todo o fluxo de uso roda em cima de entidades centrais claras mapeadas dentro do banco de dados do sistema:</a:t>
            </a:r>
          </a:p>
          <a:p>
            <a:pPr lvl="1">
              <a:defRPr sz="2000"/>
            </a:pPr>
            <a:r>
              <a:t>User: A identidade central do pesquisador, responsável pela autenticação e controle de acesso aos recursos na plataforma.</a:t>
            </a:r>
          </a:p>
          <a:p>
            <a:pPr lvl="1">
              <a:defRPr sz="2000"/>
            </a:pPr>
            <a:r>
              <a:t>Dataset: Abstração lógica que armazena os metadados e as referências diretas aos arquivos físicos CSV contendo os dados experimentais para o treinamento.</a:t>
            </a:r>
          </a:p>
          <a:p>
            <a:pPr lvl="1">
              <a:defRPr sz="2000"/>
            </a:pPr>
            <a:r>
              <a:t>Profile: Espaço de trabalho personalizado no editor que organiza os datasets importados, os modelos gerados e os blocos modulares iterativos de consulta.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Entidades Principais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Continuação das entidades encarregadas pelo processamento lógico distribuído na nuvem:</a:t>
            </a:r>
          </a:p>
          <a:p>
            <a:pPr lvl="1">
              <a:defRPr sz="2000"/>
            </a:pPr>
            <a:r>
              <a:t>Job: Configuração que encapsula e armazena os meta-parâmetros do algoritmo genético estipulados para a execução do treinamento, despachada de forma assíncrona.</a:t>
            </a:r>
          </a:p>
          <a:p>
            <a:pPr lvl="1">
              <a:defRPr sz="2000"/>
            </a:pPr>
            <a:r>
              <a:t>Model (E-graph Dump): Abstração do modelo persistido gerado após o término de um Job. Contém referências para a visualização da Fronteira de Pareto e aos dados brutos do e-graph.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Linguagem IQL (Inference Query Language)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Inference Query Language (IQL) é uma linguagem de domínio declarativa desenvolvida especificamente para a prospecção ativa de resultados.</a:t>
            </a:r>
          </a:p>
          <a:p>
            <a:pPr>
              <a:defRPr sz="2200"/>
            </a:pPr>
            <a:r>
              <a:t>Com sintaxe estrutural análoga à linguagem SQL, a IQL foi proposta para realizar buscas e filtragens condicionais sobre os e-graphs gerados durante o treinamento.</a:t>
            </a:r>
          </a:p>
          <a:p>
            <a:pPr lvl="1">
              <a:defRPr sz="2000"/>
            </a:pPr>
            <a:r>
              <a:t>Possibilita consultas diretas baseadas no limite de erro numérico e tamanho final das árvores.</a:t>
            </a:r>
          </a:p>
          <a:p>
            <a:pPr lvl="1">
              <a:defRPr sz="2000"/>
            </a:pPr>
            <a:r>
              <a:t>Atua em conjunto à biblioteca rEGGression para casamentos de padrões simbólicos em milhares de nós do e-graph.</a:t>
            </a:r>
          </a:p>
          <a:p>
            <a:pPr lvl="1">
              <a:defRPr sz="2000"/>
            </a:pPr>
            <a:r>
              <a:t>Permite extrair a expressão ótima adequada sem depender da resposta isolada arbitrária de uma ferramenta fechada.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Sintaxe da Exploração Ativa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IQL permite que o pesquisador crie regras de filtragem para formular buscas estruturadas e detalhadas:</a:t>
            </a:r>
          </a:p>
          <a:p>
            <a:pPr>
              <a:defRPr sz="2200"/>
            </a:pPr>
            <a:r>
              <a:t>SELECT TOP 5 expression, fitness, size FROM egraph_gravitacional WHERE size &lt;= 15 AND fitness &lt; 0.05 PATTERN IS LIKE sin(v0) * v1;</a:t>
            </a:r>
          </a:p>
          <a:p>
            <a:pPr lvl="1">
              <a:defRPr sz="2000"/>
            </a:pPr>
            <a:r>
              <a:t>Filtragem Estrutural (Pattern): A diretiva `PATTERN` permite a extração condicional de expressões matemáticas limitando-as rigorosamente pela correspondência de sua morfologia sintática.</a:t>
            </a:r>
          </a:p>
          <a:p>
            <a:pPr lvl="1">
              <a:defRPr sz="2000"/>
            </a:pPr>
            <a:r>
              <a:t>Avaliação Contínua: A interface estabelece comunicações assíncronas do tipo Server Side Events (SSE) para renderizar a extração parcial das equações no navegador conforme o servidor as obtém.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de Perfis e Blocos Modulares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O ambiente de trabalho unifica a extração analítica através da organização da visualização em blocos modulares.</a:t>
            </a:r>
          </a:p>
          <a:p>
            <a:pPr lvl="1">
              <a:defRPr sz="2000"/>
            </a:pPr>
            <a:r>
              <a:t>Blocos IQL: Componentes executáveis que acolhem as consultas IQL estruturadas pelo pesquisador, exibindo de forma interativa a listagem de representações extraídas (via SSE).</a:t>
            </a:r>
          </a:p>
          <a:p>
            <a:pPr lvl="1">
              <a:defRPr sz="2000"/>
            </a:pPr>
            <a:r>
              <a:t>Blocos Markdown: Área textual baseada na linguagem de marcação Markdown (amplamente adotada em cadernos acadêmicos), utilizada para formatar redações e relatar a justificativa científica das expressões obtidas.</a:t>
            </a:r>
          </a:p>
        </p:txBody>
      </p:sp>
      <p:pic>
        <p:nvPicPr>
          <p:cNvPr id="4" name="Picture 3" descr="inference_block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53790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Funcionalidades: Gestão de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Espaços de Trabalho Limpos: Todo projeto novo começa num Workspace segregado, mantendo a tela organizada.</a:t>
            </a:r>
          </a:p>
          <a:p>
            <a:pPr lvl="1">
              <a:defRPr sz="2000"/>
            </a:pPr>
            <a:r>
              <a:t>Pipeline de Dados Integrado: A abstração permite conduzir o envio dos dados, a verificação morfológica e a inicialização de Jobs preditivos concentrados em uma única aplicação web.</a:t>
            </a:r>
          </a:p>
          <a:p>
            <a:pPr lvl="1">
              <a:defRPr sz="2000"/>
            </a:pPr>
            <a:r>
              <a:t>Garantia Pré-Treino: O sistema abre uma visão da tabela final carregada, deixando o pesquisador conferir visualmente se os dados batem antes de desperdiçar processamento genético rodando.</a:t>
            </a:r>
          </a:p>
        </p:txBody>
      </p:sp>
      <p:pic>
        <p:nvPicPr>
          <p:cNvPr id="4" name="Picture 3" descr="upload_data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70033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Funcionalidades: Submissão de Jobs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criação de modelos de regressão é plenamente configurável por meio da interface gráfica da plataforma.</a:t>
            </a:r>
          </a:p>
          <a:p>
            <a:pPr lvl="1">
              <a:defRPr sz="2000"/>
            </a:pPr>
            <a:r>
              <a:t>Configuração de Parâmetros: Área dedicada à definição minuciosa das variáveis estipuladas ao treinamento (Tamanho da População, Taxa de Mutação e Limites de Épocas).</a:t>
            </a:r>
          </a:p>
          <a:p>
            <a:pPr lvl="1">
              <a:defRPr sz="2000"/>
            </a:pPr>
            <a:r>
              <a:t>Execução Distribuída: A carga computacional gerada pelo Job é despachada por meio de um broker de filas (RabbitMQ), garantindo execução assíncrona e isolada em instâncias remotas de Workers, liberando a interface.</a:t>
            </a:r>
          </a:p>
        </p:txBody>
      </p:sp>
      <p:pic>
        <p:nvPicPr>
          <p:cNvPr id="4" name="Picture 3" descr="add_job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76570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Funcionalidades: Avaliação Multiobjetivo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Avaliação Multiobjetivo auxilia a seleção do modelo, viabilizando o balanço adequado de métricas conflitantes.</a:t>
            </a:r>
          </a:p>
          <a:p>
            <a:pPr lvl="1">
              <a:defRPr sz="2000"/>
            </a:pPr>
            <a:r>
              <a:t>Fronteira de Pareto: O módulo plota um gráfico em duas dimensões explicitando as equações com base nos pilares da regressão simbólica: a Precisão de Acerto vs a Complexidade Morfológica (Tamanho da Árvore).</a:t>
            </a:r>
          </a:p>
          <a:p>
            <a:pPr lvl="1">
              <a:defRPr sz="2000"/>
            </a:pPr>
            <a:r>
              <a:t>Seleção Intuitiva: Permite ao usuário interagir visualmente com a distribuição populacional, facilitando a escolha da expressão que apresente a melhor relação de confiabilidade sem prejuízos na interpretabilidade.</a:t>
            </a:r>
          </a:p>
        </p:txBody>
      </p:sp>
      <p:pic>
        <p:nvPicPr>
          <p:cNvPr id="4" name="Picture 3" descr="model_metrics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317608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Comparação Analítica de Plataformas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Comparação de funcionalidades essenciais para pesquisa em Regressão Simbólica.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A arquitetura distribuída do Spectrum provou que a transição de cargas pesadas para uma execução via filas (computação assíncrona) destrava o treinamento exaustivo sem consumir o maquinário local do analista.</a:t>
            </a:r>
          </a:p>
          <a:p>
            <a:pPr lvl="1">
              <a:defRPr sz="2000"/>
            </a:pPr>
            <a:r>
              <a:t>A linguagem estruturada IQL quebra o modelo de observação estática de outras ferramentas, permitindo ao cientista a prospecção e extração guiada de regras específicas imersas nos e-graphs.</a:t>
            </a:r>
          </a:p>
          <a:p>
            <a:pPr lvl="1">
              <a:defRPr sz="2000"/>
            </a:pPr>
            <a:r>
              <a:t>Centralizar as visualizações otimizadas (Avaliação de Pareto) acopladas ao redator acadêmico agilizou com eficiência os fluxos metodológicos demandados por pesquisadores dessa área.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Resiliência de Rede: Implantar o padrão arquitetural estrito no código do backend para garantir que nenhum processo se perca mesmo diante de instabilidades pontuais dos Workers em nuvem.</a:t>
            </a:r>
          </a:p>
          <a:p>
            <a:pPr lvl="1">
              <a:defRPr sz="2000"/>
            </a:pPr>
            <a:r>
              <a:t>Suporte Estendido a Algoritmos Abertos: Possibilitar a integração opcional da camada de treinamento para interligar as execuções IQL aos motores otimizados em C++ (ex. PySR e Operon).</a:t>
            </a:r>
          </a:p>
          <a:p>
            <a:pPr lvl="1">
              <a:defRPr sz="2000"/>
            </a:pPr>
            <a:r>
              <a:t>Tipagens Textuais Avançadas: Expandir o processador de dados originais (backend) a fim de conseguir abranger e validar representações em texto, provindas da computação através de embeddings numéricos.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Glossário de Termos Essenciais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AST (Árvore de Sintaxe Abstrata): Estrutura em árvore que representa as operações e operardos hierárquicos de uma equação.</a:t>
            </a:r>
          </a:p>
          <a:p>
            <a:pPr lvl="1">
              <a:defRPr sz="2000"/>
            </a:pPr>
            <a:r>
              <a:t>E-graphs (Grafos de Igualdade): Estrutura complexa que compacta múltiplas representações lógicas que são matematicamente idênticas.</a:t>
            </a:r>
          </a:p>
          <a:p>
            <a:pPr lvl="1">
              <a:defRPr sz="2000"/>
            </a:pPr>
            <a:r>
              <a:t>eggp: Motor de regressão simbólica que roda otimizações genéticas atuando diretamente no E-graph.</a:t>
            </a:r>
          </a:p>
          <a:p>
            <a:pPr lvl="1">
              <a:defRPr sz="2000"/>
            </a:pPr>
            <a:r>
              <a:t>IQL (Inference Query Language): Linguagem proposta, análoga ao SQL, para consultar e filtrar equações dentro do E-graph.</a:t>
            </a:r>
          </a:p>
          <a:p>
            <a:pPr lvl="1">
              <a:defRPr sz="2000"/>
            </a:pPr>
            <a:r>
              <a:t>Fronteira de Pareto: O conjunto gráfico das melhores respostas, onde o modelo encontra o balanço ideal entre custo (tamanho) e benefício (precisão).</a:t>
            </a:r>
          </a:p>
          <a:p>
            <a:pPr lvl="1">
              <a:defRPr sz="2000"/>
            </a:pPr>
            <a:r>
              <a:t>Workers: Programas subjacentes assíncronos focados em arcar com a computação pesada enquanto o servidor web primário permanece livre.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Perguntas?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